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83" r:id="rId2"/>
    <p:sldId id="257" r:id="rId3"/>
    <p:sldId id="282" r:id="rId4"/>
    <p:sldId id="285" r:id="rId5"/>
    <p:sldId id="278" r:id="rId6"/>
    <p:sldId id="281" r:id="rId7"/>
    <p:sldId id="262" r:id="rId8"/>
    <p:sldId id="264" r:id="rId9"/>
    <p:sldId id="291" r:id="rId10"/>
    <p:sldId id="292" r:id="rId11"/>
    <p:sldId id="293" r:id="rId12"/>
    <p:sldId id="294" r:id="rId13"/>
    <p:sldId id="295" r:id="rId14"/>
    <p:sldId id="296" r:id="rId15"/>
    <p:sldId id="277" r:id="rId16"/>
    <p:sldId id="286" r:id="rId17"/>
    <p:sldId id="287" r:id="rId18"/>
    <p:sldId id="280" r:id="rId19"/>
    <p:sldId id="288" r:id="rId20"/>
    <p:sldId id="289"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djrimbhoni23@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mailto:djrim2312@g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“College Admission Agent: RAG-Powered Applicant Support with IBM Granite”</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80975996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6741">
                  <a:extLst>
                    <a:ext uri="{9D8B030D-6E8A-4147-A177-3AD203B41FA5}">
                      <a16:colId xmlns:a16="http://schemas.microsoft.com/office/drawing/2014/main" val="20002"/>
                    </a:ext>
                  </a:extLst>
                </a:gridCol>
                <a:gridCol w="2440007">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IN" sz="2000" dirty="0"/>
                    </a:p>
                    <a:p>
                      <a:pPr marL="0" marR="0" lvl="0" indent="0" algn="ctr" rtl="0">
                        <a:spcBef>
                          <a:spcPts val="0"/>
                        </a:spcBef>
                        <a:spcAft>
                          <a:spcPts val="0"/>
                        </a:spcAft>
                        <a:buNone/>
                      </a:pPr>
                      <a:r>
                        <a:rPr lang="en-IN" sz="1800" dirty="0"/>
                        <a:t>JRIMBHONI DAS</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400" dirty="0">
                          <a:hlinkClick r:id="rId3"/>
                        </a:rPr>
                        <a:t>djrimbhoni23@gmail.com</a:t>
                      </a:r>
                      <a:endParaRPr lang="en-IN" sz="1400" dirty="0"/>
                    </a:p>
                    <a:p>
                      <a:pPr marL="0" marR="0" lvl="0" indent="0" algn="ctr" rtl="0">
                        <a:spcBef>
                          <a:spcPts val="0"/>
                        </a:spcBef>
                        <a:spcAft>
                          <a:spcPts val="0"/>
                        </a:spcAft>
                        <a:buNone/>
                      </a:pPr>
                      <a:r>
                        <a:rPr lang="en-IN" sz="1400" dirty="0"/>
                        <a:t>Or</a:t>
                      </a:r>
                    </a:p>
                    <a:p>
                      <a:pPr marL="0" marR="0" lvl="0" indent="0" algn="ctr" rtl="0">
                        <a:spcBef>
                          <a:spcPts val="0"/>
                        </a:spcBef>
                        <a:spcAft>
                          <a:spcPts val="0"/>
                        </a:spcAft>
                        <a:buNone/>
                      </a:pPr>
                      <a:r>
                        <a:rPr lang="en-IN" sz="1400" dirty="0">
                          <a:hlinkClick r:id="rId4"/>
                        </a:rPr>
                        <a:t>djrim2312@gmail.com</a:t>
                      </a:r>
                      <a:r>
                        <a:rPr lang="en-IN" sz="1400" dirty="0"/>
                        <a:t> [AICTE]</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sz="1800" dirty="0"/>
                    </a:p>
                    <a:p>
                      <a:pPr marL="0" marR="0" lvl="0" indent="0" algn="ctr" rtl="0">
                        <a:spcBef>
                          <a:spcPts val="0"/>
                        </a:spcBef>
                        <a:spcAft>
                          <a:spcPts val="0"/>
                        </a:spcAft>
                        <a:buNone/>
                      </a:pPr>
                      <a:r>
                        <a:rPr lang="en-IN" sz="1800" dirty="0"/>
                        <a:t>8653398060</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Education</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solidFill>
                  <a:srgbClr val="002060"/>
                </a:solidFill>
              </a:rPr>
              <a:t>College Admission Agent (RAG-Based)</a:t>
            </a:r>
            <a:endParaRPr lang="en-IN" sz="2400" b="1">
              <a:highlight>
                <a:srgbClr val="FFFF00"/>
              </a:highlight>
            </a:endParaRPr>
          </a:p>
        </p:txBody>
      </p:sp>
      <p:pic>
        <p:nvPicPr>
          <p:cNvPr id="5" name="Picture 4">
            <a:extLst>
              <a:ext uri="{FF2B5EF4-FFF2-40B4-BE49-F238E27FC236}">
                <a16:creationId xmlns:a16="http://schemas.microsoft.com/office/drawing/2014/main" id="{ACE80C80-6266-8157-E5CA-06D0732BF3F5}"/>
              </a:ext>
            </a:extLst>
          </p:cNvPr>
          <p:cNvPicPr>
            <a:picLocks noChangeAspect="1"/>
          </p:cNvPicPr>
          <p:nvPr/>
        </p:nvPicPr>
        <p:blipFill>
          <a:blip r:embed="rId5"/>
          <a:stretch>
            <a:fillRect/>
          </a:stretch>
        </p:blipFill>
        <p:spPr>
          <a:xfrm>
            <a:off x="4149439" y="3683879"/>
            <a:ext cx="747025" cy="9987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College Admission Agent (RAG-Based)</a:t>
            </a:r>
            <a:r>
              <a:rPr lang="en-US"/>
              <a:t> </a:t>
            </a:r>
          </a:p>
          <a:p>
            <a:pPr fontAlgn="base"/>
            <a:endParaRPr lang="en-US" b="1"/>
          </a:p>
          <a:p>
            <a:pPr fontAlgn="base"/>
            <a:r>
              <a:rPr lang="en-US" b="1"/>
              <a:t>The Challenge</a:t>
            </a:r>
            <a:r>
              <a:rPr lang="en-US"/>
              <a:t> </a:t>
            </a:r>
          </a:p>
          <a:p>
            <a:pPr fontAlgn="base"/>
            <a:r>
              <a:rPr lang="en-US"/>
              <a:t>College admission departments face heavy volumes of repetitive applicant inquiries regarding </a:t>
            </a:r>
            <a:r>
              <a:rPr lang="en-US" b="1"/>
              <a:t>eligibility criteria, entrance cutoffs, tuition fees, document verification, and critical deadlines</a:t>
            </a:r>
            <a:r>
              <a:rPr lang="en-US"/>
              <a:t>. Traditional inquiry channels (email desks, phone lines, static websites) often lead to delayed responses, high administrative overhead, and student confusion caused by fragmented or outdated information. Standard conversational chatbots frequently suffer from </a:t>
            </a:r>
            <a:r>
              <a:rPr lang="en-US" b="1"/>
              <a:t>hallucinations</a:t>
            </a:r>
            <a:r>
              <a:rPr lang="en-US"/>
              <a:t>, providing unverified or incorrect dates, cutoffs, and fee structures. </a:t>
            </a:r>
          </a:p>
          <a:p>
            <a:pPr fontAlgn="base"/>
            <a:endParaRPr lang="en-US"/>
          </a:p>
          <a:p>
            <a:pPr fontAlgn="base"/>
            <a:r>
              <a:rPr lang="en-US" b="1"/>
              <a:t>The Objective</a:t>
            </a:r>
            <a:r>
              <a:rPr lang="en-US"/>
              <a:t> </a:t>
            </a:r>
          </a:p>
          <a:p>
            <a:pPr fontAlgn="base"/>
            <a:r>
              <a:rPr lang="en-US"/>
              <a:t>Build an </a:t>
            </a:r>
            <a:r>
              <a:rPr lang="en-US" b="1"/>
              <a:t>intelligent, automated College Admission Assistant</a:t>
            </a:r>
            <a:r>
              <a:rPr lang="en-US"/>
              <a:t> using Retrieval-Augmented Generation to provide </a:t>
            </a:r>
            <a:r>
              <a:rPr lang="en-US" b="1"/>
              <a:t>real-time, 24/7 applicant support</a:t>
            </a:r>
            <a:r>
              <a:rPr lang="en-US"/>
              <a:t>. The solution should: </a:t>
            </a:r>
          </a:p>
          <a:p>
            <a:pPr marL="285750" indent="-285750" fontAlgn="base">
              <a:buFont typeface="Arial" panose="020B0604020202020204" pitchFamily="34" charset="0"/>
              <a:buChar char="•"/>
            </a:pPr>
            <a:r>
              <a:rPr lang="en-US" b="1"/>
              <a:t>Grounded, Hallucination-Free Answers</a:t>
            </a:r>
            <a:r>
              <a:rPr lang="en-US"/>
              <a:t> – Ground all model responses strictly in institutional policies and official admission handbooks. </a:t>
            </a:r>
          </a:p>
          <a:p>
            <a:pPr marL="285750" indent="-285750" fontAlgn="base">
              <a:buFont typeface="Arial" panose="020B0604020202020204" pitchFamily="34" charset="0"/>
              <a:buChar char="•"/>
            </a:pPr>
            <a:r>
              <a:rPr lang="en-US" b="1"/>
              <a:t>Interactive Natural-Language Interface</a:t>
            </a:r>
            <a:r>
              <a:rPr lang="en-US"/>
              <a:t> – Let prospective students ask questions and get accurate answers on courses, eligibility, scholarships, and schedules. </a:t>
            </a:r>
          </a:p>
          <a:p>
            <a:pPr marL="285750" indent="-285750" fontAlgn="base">
              <a:buFont typeface="Arial" panose="020B0604020202020204" pitchFamily="34" charset="0"/>
              <a:buChar char="•"/>
            </a:pPr>
            <a:r>
              <a:rPr lang="en-US" b="1"/>
              <a:t>RAG Retrieval Pipeline</a:t>
            </a:r>
            <a:r>
              <a:rPr lang="en-US"/>
              <a:t> – Retrieve and summarize admission policies, eligibility criteria, fee structures, and FAQs from verified institutional sources. </a:t>
            </a:r>
          </a:p>
          <a:p>
            <a:pPr marL="285750" indent="-285750" fontAlgn="base">
              <a:buFont typeface="Arial" panose="020B0604020202020204" pitchFamily="34" charset="0"/>
              <a:buChar char="•"/>
            </a:pPr>
            <a:r>
              <a:rPr lang="en-US" b="1"/>
              <a:t>Application &amp; Deadline Guidance</a:t>
            </a:r>
            <a:r>
              <a:rPr lang="en-US"/>
              <a:t> – Help applicants with course selection, application steps, fee structure, and important deadlines. </a:t>
            </a:r>
          </a:p>
          <a:p>
            <a:pPr marL="285750" indent="-285750" fontAlgn="base">
              <a:buFont typeface="Arial" panose="020B0604020202020204" pitchFamily="34" charset="0"/>
              <a:buChar char="•"/>
            </a:pPr>
            <a:r>
              <a:rPr lang="en-US" b="1"/>
              <a:t>End-to-End Build with IBM Bob</a:t>
            </a:r>
            <a:r>
              <a:rPr lang="en-US"/>
              <a:t> – Develop, test, and deploy the entire solution using the IBM Bob autonomous AI assistant inside VS Code.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College Admission Agent (RAG-Based)</a:t>
            </a:r>
          </a:p>
          <a:p>
            <a:r>
              <a:rPr lang="en-US"/>
              <a:t>The proposed solution is a </a:t>
            </a:r>
            <a:r>
              <a:rPr lang="en-US" b="1"/>
              <a:t>RAG-powered College Admission Agent</a:t>
            </a:r>
            <a:r>
              <a:rPr lang="en-US"/>
              <a:t> built using LangChain, IBM watsonx.ai, and Granite Models to provide grounded, real-time applicant support. The system addresses challenges in eligibility queries, application guidance, fee structures, and deadline tracking through an intelligent, retrieval-first architecture.</a:t>
            </a:r>
          </a:p>
          <a:p>
            <a:r>
              <a:rPr lang="en-US"/>
              <a:t>At its core, the solution uses a </a:t>
            </a:r>
            <a:r>
              <a:rPr lang="en-US" b="1"/>
              <a:t>Retrieval-Augmented Generation (RAG)</a:t>
            </a:r>
            <a:r>
              <a:rPr lang="en-US"/>
              <a:t> pipeline to fetch accurate policy data from official admission handbooks and institutional databases. This data is embedded using Granite embeddings and stored in a local Chroma vector database, enabling the system to retrieve and summarize eligibility criteria, cutoffs, and fees.</a:t>
            </a:r>
          </a:p>
          <a:p>
            <a:r>
              <a:rPr lang="en-US"/>
              <a:t>The end-to-end pipeline consists of five stages:</a:t>
            </a:r>
          </a:p>
          <a:p>
            <a:r>
              <a:rPr lang="en-US" b="1"/>
              <a:t>Document Ingestion &amp; Chunking</a:t>
            </a:r>
            <a:r>
              <a:rPr lang="en-US"/>
              <a:t> parses official admission documents (handbooks, fee schedules, branch cutoffs) into overlapping semantic chunks. </a:t>
            </a:r>
          </a:p>
          <a:p>
            <a:r>
              <a:rPr lang="en-US" b="1"/>
              <a:t>Vector Indexing</a:t>
            </a:r>
            <a:r>
              <a:rPr lang="en-US"/>
              <a:t> vectorizes chunks using IBM Granite embeddings and persists them into a local Chroma vector database. </a:t>
            </a:r>
          </a:p>
          <a:p>
            <a:r>
              <a:rPr lang="en-US" b="1"/>
              <a:t>RAG Retrieval Engine</a:t>
            </a:r>
            <a:r>
              <a:rPr lang="en-US"/>
              <a:t> runs semantic similarity search to retrieve the top matching chunks of verified institutional data for each applicant query. </a:t>
            </a:r>
          </a:p>
          <a:p>
            <a:r>
              <a:rPr lang="en-US" b="1"/>
              <a:t>Granite-Powered Reasoning</a:t>
            </a:r>
            <a:r>
              <a:rPr lang="en-US"/>
              <a:t> synthesizes the retrieved context and query through a guarded system prompt, answering accurately or deferring to the admission office if data is unavailable. </a:t>
            </a:r>
          </a:p>
          <a:p>
            <a:r>
              <a:rPr lang="en-US"/>
              <a:t>The solution includes an </a:t>
            </a:r>
            <a:r>
              <a:rPr lang="en-US" b="1"/>
              <a:t>interactive web interface and deployment layer</a:t>
            </a:r>
            <a:r>
              <a:rPr lang="en-US"/>
              <a:t> — a lightweight FastAPI backend that serves the REST API and chat interface, packaged for deployment on serverless IBM Cloud infrastructure.</a:t>
            </a:r>
          </a:p>
          <a:p>
            <a:r>
              <a:rPr lang="en-US"/>
              <a:t>LangChain is used to orchestrate the retrieval and reasoning workflow, while watsonx.ai ensures scalable model deployment, embeddings, and AI governance. Granite models power reasoning, summarization, and grounded response generation.</a:t>
            </a:r>
          </a:p>
          <a:p>
            <a:r>
              <a:rPr lang="en-US"/>
              <a:t>Overall, this solution delivers an </a:t>
            </a:r>
            <a:r>
              <a:rPr lang="en-US" b="1"/>
              <a:t>end-to-end, hallucination-resistant admission assistant</a:t>
            </a:r>
            <a:r>
              <a:rPr lang="en-US"/>
              <a:t> that boosts transparency, accessibility, and efficiency for prospective students and admission staff alike.</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IBM Bob (VS Code Extension) </a:t>
            </a:r>
            <a:r>
              <a:rPr lang="en-US" sz="1800"/>
              <a:t>– For autonomous coding, environment management, and execution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Granite Foundation Model </a:t>
            </a:r>
            <a:r>
              <a:rPr lang="en-US" sz="1800"/>
              <a:t>– ibm/granite-3-1-8b-base / ibm/granite-4-h-small via watsonx.ai – for natural language understanding, reasoning, and grounded generation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Lite </a:t>
            </a:r>
            <a:r>
              <a:rPr lang="en-US" sz="1800"/>
              <a:t>– watsonx.ai Runtime / Watson Machine Learning and IBM Cloud Code Engine provide a </a:t>
            </a:r>
            <a:r>
              <a:rPr lang="en-US" sz="1800" b="1"/>
              <a:t>reliable, secure, and scalable environment</a:t>
            </a:r>
            <a:r>
              <a:rPr lang="en-US" sz="1800"/>
              <a:t> for deploying the Admission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(LangChain) – </a:t>
            </a:r>
            <a:r>
              <a:rPr lang="en-US" sz="1800"/>
              <a:t>Retrieves real institutional data first, then generates </a:t>
            </a:r>
            <a:r>
              <a:rPr lang="en-US" sz="1800" b="1"/>
              <a:t>grounded, hallucination-free answers</a:t>
            </a:r>
            <a:r>
              <a:rPr lang="en-US" sz="1800"/>
              <a:t>, making the Admission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Embedding Model (watsonx.ai) - </a:t>
            </a:r>
            <a:r>
              <a:rPr lang="en-US" sz="1800"/>
              <a:t>ibm/granite-embedding-107m-multilingual / ibm/granite-embedding-278m-multilingual 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&amp; Backend </a:t>
            </a:r>
            <a:r>
              <a:rPr lang="en-IN" sz="1800"/>
              <a:t>– ChromaDB (local persistence) for RAG-based admission-policy retrieval, served via FastAPI + Uvicorn on Python 3.11</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System</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components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 Query Input </a:t>
            </a:r>
            <a:r>
              <a:rPr lang="en-US"/>
              <a:t>– Interface where applicants enter natural-language questions about courses, eligibility, fees, or deadlines.</a:t>
            </a:r>
          </a:p>
          <a:p>
            <a:endParaRPr lang="en-US"/>
          </a:p>
          <a:p>
            <a:r>
              <a:rPr lang="en-US" b="1"/>
              <a:t>2) IBM </a:t>
            </a:r>
            <a:r>
              <a:rPr lang="en-US" b="1" err="1"/>
              <a:t>watsonx</a:t>
            </a:r>
            <a:r>
              <a:rPr lang="en-US" b="1"/>
              <a:t> Granite Agent </a:t>
            </a:r>
            <a:r>
              <a:rPr lang="en-US"/>
              <a:t>- Processes retrieved context and the user query through a guarded system prompt to generate grounded admission answers. </a:t>
            </a:r>
          </a:p>
          <a:p>
            <a:endParaRPr lang="en-US"/>
          </a:p>
          <a:p>
            <a:r>
              <a:rPr lang="en-US" b="1"/>
              <a:t>3) Name of IBM Granite model - </a:t>
            </a:r>
            <a:r>
              <a:rPr lang="en-US"/>
              <a:t>ibm/granite-3-1-8b-base / ibm/granite-4-h-small → Fast, efficient for real-time admission responses</a:t>
            </a:r>
          </a:p>
          <a:p>
            <a:endParaRPr lang="en-US"/>
          </a:p>
          <a:p>
            <a:r>
              <a:rPr lang="en-US" b="1"/>
              <a:t>4) Chat output -</a:t>
            </a:r>
            <a:r>
              <a:rPr lang="en-US"/>
              <a:t>Displays AI-generated responses such as eligibility criteria, cutoffs, fee details, and deadlines, or defers to the admission office when data is unavailable. </a:t>
            </a:r>
          </a:p>
          <a:p>
            <a:endParaRPr lang="en-US"/>
          </a:p>
          <a:p>
            <a:r>
              <a:rPr lang="en-US" b="1"/>
              <a:t>5) </a:t>
            </a:r>
            <a:r>
              <a:rPr lang="en-US" b="1">
                <a:highlight>
                  <a:srgbClr val="FFFF00"/>
                </a:highlight>
              </a:rPr>
              <a:t>Vector Store (ChromaDB) - </a:t>
            </a:r>
            <a:r>
              <a:rPr lang="en-US">
                <a:highlight>
                  <a:srgbClr val="FFFF00"/>
                </a:highlight>
              </a:rPr>
              <a:t>Stores and retrieves embedded admission handbooks, fee schedules, and cutoff datasets for RAG-based retrieval.</a:t>
            </a:r>
          </a:p>
          <a:p>
            <a:endParaRPr lang="en-US"/>
          </a:p>
          <a:p>
            <a:endParaRPr lang="en-US"/>
          </a:p>
          <a:p>
            <a:r>
              <a:rPr lang="en-US"/>
              <a:t>6) </a:t>
            </a:r>
            <a:r>
              <a:rPr lang="en-US">
                <a:highlight>
                  <a:srgbClr val="FFFF00"/>
                </a:highlight>
              </a:rPr>
              <a:t>FastAPI + Uvicorn backend serving the REST API and chat interface.</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B55B0049-030A-DE25-859B-6B50E0B78A04}"/>
              </a:ext>
            </a:extLst>
          </p:cNvPr>
          <p:cNvPicPr>
            <a:picLocks noChangeAspect="1"/>
          </p:cNvPicPr>
          <p:nvPr/>
        </p:nvPicPr>
        <p:blipFill>
          <a:blip r:embed="rId3"/>
          <a:stretch>
            <a:fillRect/>
          </a:stretch>
        </p:blipFill>
        <p:spPr>
          <a:xfrm>
            <a:off x="609600" y="1334346"/>
            <a:ext cx="10815484" cy="49091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the College Admission Agent</a:t>
            </a:r>
          </a:p>
          <a:p>
            <a:r>
              <a:rPr lang="en-US" b="1"/>
              <a:t>Agentic AI</a:t>
            </a:r>
            <a:r>
              <a:rPr lang="en-US"/>
              <a:t> enables the Admission Agent to function as an intelligent, autonomous system rather than a simple chatbot. Using </a:t>
            </a:r>
            <a:r>
              <a:rPr lang="en-US" b="1"/>
              <a:t>IBM watsonx.ai</a:t>
            </a:r>
            <a:r>
              <a:rPr lang="en-US"/>
              <a:t> and </a:t>
            </a:r>
            <a:r>
              <a:rPr lang="en-US" b="1"/>
              <a:t>IBM Granite models</a:t>
            </a:r>
            <a:r>
              <a:rPr lang="en-US"/>
              <a:t>, it autonomously retrieves, reasons over, and responds to applicant queries end to end.</a:t>
            </a:r>
          </a:p>
          <a:p>
            <a:r>
              <a:rPr lang="en-US"/>
              <a:t>The agent performs each stage of the RAG pipeline on its own—chunking documents, running semantic retrieval, and generating a grounded response—while working within a </a:t>
            </a:r>
            <a:r>
              <a:rPr lang="en-US" b="1"/>
              <a:t>guarded system prompt</a:t>
            </a:r>
            <a:r>
              <a:rPr lang="en-US"/>
              <a:t> that ensures efficient task execution and accurate results.</a:t>
            </a:r>
          </a:p>
          <a:p>
            <a:r>
              <a:rPr lang="en-US"/>
              <a:t>Agentic AI also brings </a:t>
            </a:r>
            <a:r>
              <a:rPr lang="en-US" b="1"/>
              <a:t>context awareness</a:t>
            </a:r>
            <a:r>
              <a:rPr lang="en-US"/>
              <a:t>, understanding the applicant's query intent to pull the most relevant policy chunks. It supports </a:t>
            </a:r>
            <a:r>
              <a:rPr lang="en-US" b="1"/>
              <a:t>graceful deferral</a:t>
            </a:r>
            <a:r>
              <a:rPr lang="en-US"/>
              <a:t>, routing the applicant to the admission office whenever verified data is unavailable rather than guessing.</a:t>
            </a:r>
          </a:p>
          <a:p>
            <a:r>
              <a:rPr lang="en-US"/>
              <a:t>Additionally, the agent operates continuously through the FastAPI backend, enabling 24/7 availability and consistent, policy-grounded decision-making.</a:t>
            </a:r>
          </a:p>
          <a:p>
            <a:r>
              <a:rPr lang="en-US"/>
              <a:t>Overall, Agentic AI makes the system proactive, accurate, and trustworthy, acting like a </a:t>
            </a:r>
            <a:r>
              <a:rPr lang="en-US" b="1"/>
              <a:t>tireless digital admission counselor</a:t>
            </a:r>
            <a:r>
              <a:rPr lang="en-US"/>
              <a:t> that helps applicants navigate the admission process with confidence.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F06910-B515-2151-CB48-44567CEF5D29}"/>
              </a:ext>
            </a:extLst>
          </p:cNvPr>
          <p:cNvPicPr>
            <a:picLocks noChangeAspect="1"/>
          </p:cNvPicPr>
          <p:nvPr/>
        </p:nvPicPr>
        <p:blipFill>
          <a:blip r:embed="rId2"/>
          <a:stretch>
            <a:fillRect/>
          </a:stretch>
        </p:blipFill>
        <p:spPr>
          <a:xfrm>
            <a:off x="501445" y="491613"/>
            <a:ext cx="11031794" cy="5909188"/>
          </a:xfrm>
          <a:prstGeom prst="rect">
            <a:avLst/>
          </a:prstGeom>
        </p:spPr>
      </p:pic>
    </p:spTree>
    <p:extLst>
      <p:ext uri="{BB962C8B-B14F-4D97-AF65-F5344CB8AC3E}">
        <p14:creationId xmlns:p14="http://schemas.microsoft.com/office/powerpoint/2010/main" val="1831426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B805CD-11A9-8CA9-6354-62C4E7F7E30B}"/>
              </a:ext>
            </a:extLst>
          </p:cNvPr>
          <p:cNvPicPr>
            <a:picLocks noChangeAspect="1"/>
          </p:cNvPicPr>
          <p:nvPr/>
        </p:nvPicPr>
        <p:blipFill>
          <a:blip r:embed="rId2"/>
          <a:stretch>
            <a:fillRect/>
          </a:stretch>
        </p:blipFill>
        <p:spPr>
          <a:xfrm>
            <a:off x="403123" y="331607"/>
            <a:ext cx="11326762" cy="6194785"/>
          </a:xfrm>
          <a:prstGeom prst="rect">
            <a:avLst/>
          </a:prstGeom>
        </p:spPr>
      </p:pic>
    </p:spTree>
    <p:extLst>
      <p:ext uri="{BB962C8B-B14F-4D97-AF65-F5344CB8AC3E}">
        <p14:creationId xmlns:p14="http://schemas.microsoft.com/office/powerpoint/2010/main" val="2395977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8760BE-B461-568D-3D45-F667DAEA7BB2}"/>
              </a:ext>
            </a:extLst>
          </p:cNvPr>
          <p:cNvPicPr>
            <a:picLocks noChangeAspect="1"/>
          </p:cNvPicPr>
          <p:nvPr/>
        </p:nvPicPr>
        <p:blipFill>
          <a:blip r:embed="rId2"/>
          <a:stretch>
            <a:fillRect/>
          </a:stretch>
        </p:blipFill>
        <p:spPr>
          <a:xfrm>
            <a:off x="540774" y="511277"/>
            <a:ext cx="11012129" cy="6083443"/>
          </a:xfrm>
          <a:prstGeom prst="rect">
            <a:avLst/>
          </a:prstGeom>
        </p:spPr>
      </p:pic>
    </p:spTree>
    <p:extLst>
      <p:ext uri="{BB962C8B-B14F-4D97-AF65-F5344CB8AC3E}">
        <p14:creationId xmlns:p14="http://schemas.microsoft.com/office/powerpoint/2010/main" val="3634399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5E07A2-971F-2EDC-F821-B0F45FE284CF}"/>
              </a:ext>
            </a:extLst>
          </p:cNvPr>
          <p:cNvPicPr>
            <a:picLocks noChangeAspect="1"/>
          </p:cNvPicPr>
          <p:nvPr/>
        </p:nvPicPr>
        <p:blipFill>
          <a:blip r:embed="rId2"/>
          <a:stretch>
            <a:fillRect/>
          </a:stretch>
        </p:blipFill>
        <p:spPr>
          <a:xfrm>
            <a:off x="678426" y="337755"/>
            <a:ext cx="10933471" cy="6182490"/>
          </a:xfrm>
          <a:prstGeom prst="rect">
            <a:avLst/>
          </a:prstGeom>
        </p:spPr>
      </p:pic>
    </p:spTree>
    <p:extLst>
      <p:ext uri="{BB962C8B-B14F-4D97-AF65-F5344CB8AC3E}">
        <p14:creationId xmlns:p14="http://schemas.microsoft.com/office/powerpoint/2010/main" val="2595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AF4B8D-3285-8AA3-E1C3-A9E3B95E0B2F}"/>
              </a:ext>
            </a:extLst>
          </p:cNvPr>
          <p:cNvPicPr>
            <a:picLocks noChangeAspect="1"/>
          </p:cNvPicPr>
          <p:nvPr/>
        </p:nvPicPr>
        <p:blipFill>
          <a:blip r:embed="rId2"/>
          <a:stretch>
            <a:fillRect/>
          </a:stretch>
        </p:blipFill>
        <p:spPr>
          <a:xfrm>
            <a:off x="589934" y="287065"/>
            <a:ext cx="10864647" cy="6283869"/>
          </a:xfrm>
          <a:prstGeom prst="rect">
            <a:avLst/>
          </a:prstGeom>
        </p:spPr>
      </p:pic>
    </p:spTree>
    <p:extLst>
      <p:ext uri="{BB962C8B-B14F-4D97-AF65-F5344CB8AC3E}">
        <p14:creationId xmlns:p14="http://schemas.microsoft.com/office/powerpoint/2010/main" val="3894437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0ED863-454C-9B4B-93C9-2D57928BC92C}"/>
              </a:ext>
            </a:extLst>
          </p:cNvPr>
          <p:cNvPicPr>
            <a:picLocks noChangeAspect="1"/>
          </p:cNvPicPr>
          <p:nvPr/>
        </p:nvPicPr>
        <p:blipFill>
          <a:blip r:embed="rId2"/>
          <a:stretch>
            <a:fillRect/>
          </a:stretch>
        </p:blipFill>
        <p:spPr>
          <a:xfrm>
            <a:off x="678426" y="328088"/>
            <a:ext cx="10766322" cy="6201823"/>
          </a:xfrm>
          <a:prstGeom prst="rect">
            <a:avLst/>
          </a:prstGeom>
        </p:spPr>
      </p:pic>
    </p:spTree>
    <p:extLst>
      <p:ext uri="{BB962C8B-B14F-4D97-AF65-F5344CB8AC3E}">
        <p14:creationId xmlns:p14="http://schemas.microsoft.com/office/powerpoint/2010/main" val="543102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3,605 token are used</a:t>
            </a:r>
          </a:p>
        </p:txBody>
      </p:sp>
      <p:pic>
        <p:nvPicPr>
          <p:cNvPr id="3" name="Picture 2">
            <a:extLst>
              <a:ext uri="{FF2B5EF4-FFF2-40B4-BE49-F238E27FC236}">
                <a16:creationId xmlns:a16="http://schemas.microsoft.com/office/drawing/2014/main" id="{E01A7C52-A3D9-C988-C08C-1D07A19DC7FC}"/>
              </a:ext>
            </a:extLst>
          </p:cNvPr>
          <p:cNvPicPr>
            <a:picLocks noChangeAspect="1"/>
          </p:cNvPicPr>
          <p:nvPr/>
        </p:nvPicPr>
        <p:blipFill>
          <a:blip r:embed="rId3"/>
          <a:stretch>
            <a:fillRect/>
          </a:stretch>
        </p:blipFill>
        <p:spPr>
          <a:xfrm>
            <a:off x="1012723" y="1455174"/>
            <a:ext cx="9960554" cy="4887496"/>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College Admission Agent stands out by combining </a:t>
            </a:r>
            <a:r>
              <a:rPr lang="en-IN" sz="1800" b="1"/>
              <a:t>Agentic AI, RAG, and strict grounding</a:t>
            </a:r>
            <a:r>
              <a:rPr lang="en-IN" sz="1800"/>
              <a:t> into a single, hallucination-resistant system.</a:t>
            </a:r>
          </a:p>
          <a:p>
            <a:endParaRPr lang="en-IN" sz="1800"/>
          </a:p>
          <a:p>
            <a:r>
              <a:rPr lang="en-IN" sz="1800" b="1"/>
              <a:t>Autonomous Agentic Workflow</a:t>
            </a:r>
            <a:r>
              <a:rPr lang="en-IN" sz="1800"/>
              <a:t> – Instead of a static FAQ bot, an autonomous agent retrieves, reasons, and responds end to end for each applicant query. </a:t>
            </a:r>
          </a:p>
          <a:p>
            <a:r>
              <a:rPr lang="en-IN" sz="1800" b="1"/>
              <a:t>RAG-Based Accuracy</a:t>
            </a:r>
            <a:r>
              <a:rPr lang="en-IN" sz="1800"/>
              <a:t> – Integrates real-time policy retrieval with AI generation, reducing misinformation and ensuring trustworthy answers. </a:t>
            </a:r>
          </a:p>
          <a:p>
            <a:r>
              <a:rPr lang="en-IN" sz="1800" b="1"/>
              <a:t>Guarded, Grounded Responses</a:t>
            </a:r>
            <a:r>
              <a:rPr lang="en-IN" sz="1800"/>
              <a:t> – Answers strictly from institutional handbooks, deferring to the admission office when data is unavailable. </a:t>
            </a:r>
          </a:p>
          <a:p>
            <a:r>
              <a:rPr lang="en-IN" sz="1800" b="1"/>
              <a:t>Semantic Chunking &amp; Indexing</a:t>
            </a:r>
            <a:r>
              <a:rPr lang="en-IN" sz="1800"/>
              <a:t> – Overlapping semantic chunks and Granite embeddings keep retrieval precise across large policy documents. </a:t>
            </a:r>
          </a:p>
          <a:p>
            <a:r>
              <a:rPr lang="en-IN" sz="1800" b="1"/>
              <a:t>24/7 Multi-Channel Access</a:t>
            </a:r>
            <a:r>
              <a:rPr lang="en-IN" sz="1800"/>
              <a:t> – A FastAPI-backed web chat interface gives applicants round-the-clock support. </a:t>
            </a:r>
          </a:p>
          <a:p>
            <a:r>
              <a:rPr lang="en-IN" sz="1800" b="1"/>
              <a:t>Reduced Administrative Load</a:t>
            </a:r>
            <a:r>
              <a:rPr lang="en-IN" sz="1800"/>
              <a:t> – Automates repetitive inquiries on eligibility, cutoffs, fees, and deadlines, freeing staff for complex cases.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on serverless IBM Cloud infrastructure, ensuring reliability and governance. </a:t>
            </a:r>
          </a:p>
          <a:p>
            <a:endParaRPr lang="en-IN" sz="1800"/>
          </a:p>
          <a:p>
            <a:r>
              <a:rPr lang="en-IN" sz="1800"/>
              <a:t>This makes the solution a </a:t>
            </a:r>
            <a:r>
              <a:rPr lang="en-IN" sz="1800" b="1"/>
              <a:t>smart, transparent, and always-available admission assistant</a:t>
            </a:r>
            <a:r>
              <a:rPr lang="en-IN" sz="1800"/>
              <a:t>, not just a static FAQ page.</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022078" y="1221715"/>
            <a:ext cx="9931057"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My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profile link : https://github.com/djrimbhoni</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of my project – https://github.com/djrimbhoni/college-admission-agent-final</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Official Student Information Systems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agent can be integrated with the college's Student Information System (SIS) and application portal to provide applicant-specific status updates, such as document verification progress and seat allotment, instead of only general policy answers.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regional languages will improve accessibility. Applicants can interact naturally in their preferred language, making the solution more inclusive for students from diverse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D41003EE-6B36-C883-7FFD-6EE0FF55E657}"/>
              </a:ext>
            </a:extLst>
          </p:cNvPr>
          <p:cNvPicPr>
            <a:picLocks noChangeAspect="1"/>
          </p:cNvPicPr>
          <p:nvPr/>
        </p:nvPicPr>
        <p:blipFill>
          <a:blip r:embed="rId2"/>
          <a:stretch>
            <a:fillRect/>
          </a:stretch>
        </p:blipFill>
        <p:spPr>
          <a:xfrm>
            <a:off x="2423587" y="884488"/>
            <a:ext cx="7148179" cy="541829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C93D0BAD-5C66-F202-B31B-C815ACD93F33}"/>
              </a:ext>
            </a:extLst>
          </p:cNvPr>
          <p:cNvPicPr>
            <a:picLocks noChangeAspect="1"/>
          </p:cNvPicPr>
          <p:nvPr/>
        </p:nvPicPr>
        <p:blipFill>
          <a:blip r:embed="rId2"/>
          <a:stretch>
            <a:fillRect/>
          </a:stretch>
        </p:blipFill>
        <p:spPr>
          <a:xfrm>
            <a:off x="2483807" y="1359085"/>
            <a:ext cx="7224386" cy="518204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1456</Words>
  <Application>Microsoft Office PowerPoint</Application>
  <PresentationFormat>Widescreen</PresentationFormat>
  <Paragraphs>122</Paragraphs>
  <Slides>21</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jrimbhoni das</cp:lastModifiedBy>
  <cp:revision>13</cp:revision>
  <dcterms:created xsi:type="dcterms:W3CDTF">2025-07-08T05:06:56Z</dcterms:created>
  <dcterms:modified xsi:type="dcterms:W3CDTF">2026-09-11T00:23:37Z</dcterms:modified>
</cp:coreProperties>
</file>